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535ac39ac740a5" /><Relationship Type="http://schemas.openxmlformats.org/officeDocument/2006/relationships/extended-properties" Target="/docProps/app.xml" Id="R348eed41b6974ffd" /><Relationship Type="http://schemas.openxmlformats.org/officeDocument/2006/relationships/officeDocument" Target="/ppt/presentation.xml" Id="Rf168e3ea41e74c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060a6674284b8c"/>
  </p:sldMasterIdLst>
  <p:notesMasterIdLst>
    <p:notesMasterId xmlns:r="http://schemas.openxmlformats.org/officeDocument/2006/relationships" r:id="R400faa584af14022"/>
  </p:notesMasterIdLst>
  <p:sldIdLst>
    <p:sldId xmlns:r="http://schemas.openxmlformats.org/officeDocument/2006/relationships" id="256" r:id="Rd1d55552122d421d"/>
    <p:sldId xmlns:r="http://schemas.openxmlformats.org/officeDocument/2006/relationships" id="257" r:id="Reea628be90f04017"/>
    <p:sldId xmlns:r="http://schemas.openxmlformats.org/officeDocument/2006/relationships" id="258" r:id="Rf723ed616651499c"/>
    <p:sldId xmlns:r="http://schemas.openxmlformats.org/officeDocument/2006/relationships" id="259" r:id="Ref88a93d9d5a41eb"/>
    <p:sldId xmlns:r="http://schemas.openxmlformats.org/officeDocument/2006/relationships" id="260" r:id="R9fb346cf26fd4371"/>
    <p:sldId xmlns:r="http://schemas.openxmlformats.org/officeDocument/2006/relationships" id="261" r:id="R17be00ed710347a2"/>
    <p:sldId xmlns:r="http://schemas.openxmlformats.org/officeDocument/2006/relationships" id="262" r:id="Rdbf40ea0b3b4493f"/>
    <p:sldId xmlns:r="http://schemas.openxmlformats.org/officeDocument/2006/relationships" id="263" r:id="R7a2473cca1574cd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02a9135633415a" /><Relationship Type="http://schemas.openxmlformats.org/officeDocument/2006/relationships/slideMaster" Target="/ppt/slideMasters/slideMaster1.xml" Id="R83060a6674284b8c" /><Relationship Type="http://schemas.openxmlformats.org/officeDocument/2006/relationships/notesMaster" Target="/ppt/notesMasters/notesMaster1.xml" Id="R400faa584af14022" /><Relationship Type="http://schemas.openxmlformats.org/officeDocument/2006/relationships/presProps" Target="/ppt/presProps.xml" Id="R17bf34f529cd4815" /><Relationship Type="http://schemas.openxmlformats.org/officeDocument/2006/relationships/tableStyles" Target="/ppt/tableStyles.xml" Id="R6176f0b1a49647c6" /><Relationship Type="http://schemas.openxmlformats.org/officeDocument/2006/relationships/slide" Target="/ppt/slides/slide1.xml" Id="Rd1d55552122d421d" /><Relationship Type="http://schemas.openxmlformats.org/officeDocument/2006/relationships/slide" Target="/ppt/slides/slide2.xml" Id="Reea628be90f04017" /><Relationship Type="http://schemas.openxmlformats.org/officeDocument/2006/relationships/slide" Target="/ppt/slides/slide3.xml" Id="Rf723ed616651499c" /><Relationship Type="http://schemas.openxmlformats.org/officeDocument/2006/relationships/slide" Target="/ppt/slides/slide4.xml" Id="Ref88a93d9d5a41eb" /><Relationship Type="http://schemas.openxmlformats.org/officeDocument/2006/relationships/slide" Target="/ppt/slides/slide5.xml" Id="R9fb346cf26fd4371" /><Relationship Type="http://schemas.openxmlformats.org/officeDocument/2006/relationships/slide" Target="/ppt/slides/slide6.xml" Id="R17be00ed710347a2" /><Relationship Type="http://schemas.openxmlformats.org/officeDocument/2006/relationships/slide" Target="/ppt/slides/slide7.xml" Id="Rdbf40ea0b3b4493f" /><Relationship Type="http://schemas.openxmlformats.org/officeDocument/2006/relationships/slide" Target="/ppt/slides/slide8.xml" Id="R7a2473cca1574c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21c13afad244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4b325acd1b49fe" /><Relationship Type="http://schemas.openxmlformats.org/officeDocument/2006/relationships/notesMaster" Target="/ppt/notesMasters/notesMaster1.xml" Id="Rbfc62dc0993d45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37dfbf7fff4235" /><Relationship Type="http://schemas.openxmlformats.org/officeDocument/2006/relationships/notesMaster" Target="/ppt/notesMasters/notesMaster1.xml" Id="R3a486e01d4c342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86fe04741e4663" /><Relationship Type="http://schemas.openxmlformats.org/officeDocument/2006/relationships/notesMaster" Target="/ppt/notesMasters/notesMaster1.xml" Id="R1b06307ecf7245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4385aefb194b37" /><Relationship Type="http://schemas.openxmlformats.org/officeDocument/2006/relationships/notesMaster" Target="/ppt/notesMasters/notesMaster1.xml" Id="R5eb3e4777dd749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02d647c2b4442d" /><Relationship Type="http://schemas.openxmlformats.org/officeDocument/2006/relationships/notesMaster" Target="/ppt/notesMasters/notesMaster1.xml" Id="R115231d27d984b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1eed8313d944d9" /><Relationship Type="http://schemas.openxmlformats.org/officeDocument/2006/relationships/notesMaster" Target="/ppt/notesMasters/notesMaster1.xml" Id="R47a11508b98240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965c19cf6b41ce" /><Relationship Type="http://schemas.openxmlformats.org/officeDocument/2006/relationships/notesMaster" Target="/ppt/notesMasters/notesMaster1.xml" Id="Re980634543d444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abca236fcb4af1" /><Relationship Type="http://schemas.openxmlformats.org/officeDocument/2006/relationships/notesMaster" Target="/ppt/notesMasters/notesMaster1.xml" Id="R961aec8a8c6641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54acba214442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f7f75a936d476d" /><Relationship Type="http://schemas.openxmlformats.org/officeDocument/2006/relationships/slideLayout" Target="/ppt/slideLayouts/slideLayout1.xml" Id="Rb8ca8ace17744e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ca8ace17744e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549aac2f44915" /><Relationship Type="http://schemas.openxmlformats.org/officeDocument/2006/relationships/image" Target="/ppt/media/image.png" Id="R27efcd9a6e0045a9" /><Relationship Type="http://schemas.openxmlformats.org/officeDocument/2006/relationships/notesSlide" Target="/ppt/notesSlides/notesSlide1.xml" Id="Ra85ad0e3871347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14fe0400b47ca" /><Relationship Type="http://schemas.openxmlformats.org/officeDocument/2006/relationships/notesSlide" Target="/ppt/notesSlides/notesSlide2.xml" Id="Rbf011c45b3a844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dbc9182ae4d9e" /><Relationship Type="http://schemas.openxmlformats.org/officeDocument/2006/relationships/notesSlide" Target="/ppt/notesSlides/notesSlide3.xml" Id="R075e4f7b8ad844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4d7da64944149" /><Relationship Type="http://schemas.openxmlformats.org/officeDocument/2006/relationships/image" Target="/ppt/media/image2.png" Id="Re36742e18eb24813" /><Relationship Type="http://schemas.openxmlformats.org/officeDocument/2006/relationships/notesSlide" Target="/ppt/notesSlides/notesSlide4.xml" Id="Rec237131a71f4e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3ec8b61db47f7" /><Relationship Type="http://schemas.openxmlformats.org/officeDocument/2006/relationships/image" Target="/ppt/media/image3.png" Id="Rc88123e56c7244a3" /><Relationship Type="http://schemas.openxmlformats.org/officeDocument/2006/relationships/notesSlide" Target="/ppt/notesSlides/notesSlide5.xml" Id="R431b40bb2a754e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74490d5284e35" /><Relationship Type="http://schemas.openxmlformats.org/officeDocument/2006/relationships/notesSlide" Target="/ppt/notesSlides/notesSlide6.xml" Id="R83e35d6a4c1540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cc41d3ccc46bb" /><Relationship Type="http://schemas.openxmlformats.org/officeDocument/2006/relationships/notesSlide" Target="/ppt/notesSlides/notesSlide7.xml" Id="R0f3ce8b3e6b347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2765955b34b68" /><Relationship Type="http://schemas.openxmlformats.org/officeDocument/2006/relationships/notesSlide" Target="/ppt/notesSlides/notesSlide8.xml" Id="R45a8b5822a3043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D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ACA6D2-0A12-4411-80D1-07C52502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4800"/>
            <a:ext cx="11544300" cy="624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7120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AAF59-5168-4922-B1F9-9D576740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657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1F26"/>
          </a:solidFill>
          <a:ln xmlns:a="http://schemas.openxmlformats.org/drawingml/2006/main" w="47625">
            <a:solidFill>
              <a:srgbClr val="17120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56F8D-293A-4D65-9C3C-7F8E4D14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38225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8E7"/>
                </a:solidFill>
              </a:defRPr>
            </a:pPr>
            <a:r>
              <a:rPr sz="1875" b="1">
                <a:solidFill>
                  <a:srgbClr val="FFF8E7"/>
                </a:solidFill>
              </a:rPr>
              <a:t>ROOMMATE BOSS BATTLE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1B958-D2C1-4E8F-9324-E7850469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6858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E41F26"/>
                </a:solidFill>
              </a:defRPr>
            </a:pPr>
            <a:r>
              <a:rPr sz="6600" b="1">
                <a:solidFill>
                  <a:srgbClr val="E41F26"/>
                </a:solidFill>
              </a:rPr>
              <a:t>FizzBuzz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00322-ADD8-4557-83CE-BA26A668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20D"/>
                </a:solidFill>
              </a:defRPr>
            </a:pPr>
            <a:r>
              <a:rPr sz="2250" b="1">
                <a:solidFill>
                  <a:srgbClr val="17120D"/>
                </a:solidFill>
              </a:rPr>
              <a:t>Practice the awkward confrontation before it becomes a kitchen incident.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8C76A-FF9F-4D17-A77D-25543ADB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55B4"/>
                </a:solidFill>
              </a:defRPr>
            </a:pPr>
            <a:r>
              <a:rPr sz="1650" b="1">
                <a:solidFill>
                  <a:srgbClr val="1855B4"/>
                </a:solidFill>
              </a:rPr>
              <a:t>AI roommate deflections + live speech + comic boss-battle coaching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49591-A839-4BBA-818C-6CB8B5DE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143000"/>
            <a:ext cx="3810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73F7C-A216-4EF4-A3F0-114E7F11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47750"/>
            <a:ext cx="3810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47625">
            <a:solidFill>
              <a:srgbClr val="17120D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fcd9a6e0045a9"/>
          <a:srcRect xmlns:a="http://schemas.openxmlformats.org/drawingml/2006/main" l="23526" t="0" r="235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96150" y="1104900"/>
            <a:ext cx="3695700" cy="43624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8495E-8003-42BE-8158-6CC4A0BF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819775"/>
            <a:ext cx="2247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D950D-F0DD-42C1-A74A-5FFE8B0E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772150"/>
            <a:ext cx="2247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35B7"/>
          </a:solidFill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72372-38D1-499D-82C0-3349F705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483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8E7"/>
                </a:solidFill>
              </a:defRPr>
            </a:pPr>
            <a:r>
              <a:rPr sz="1275" b="1">
                <a:solidFill>
                  <a:srgbClr val="FFF8E7"/>
                </a:solidFill>
              </a:rPr>
              <a:t>DEMO SIDEKICK DECK</a:t>
            </a:r>
          </a:p>
        </p:txBody>
      </p:sp>
    </p:spTree>
    <p:extLst>
      <p:ext uri="{BB962C8B-B14F-4D97-AF65-F5344CB8AC3E}">
        <p14:creationId xmlns:p14="http://schemas.microsoft.com/office/powerpoint/2010/main" val="14109202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12B0EE-4ECF-49DA-872A-1AE2BAC9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28600"/>
            <a:ext cx="116967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F1433-55D8-4A50-8ED9-16C4C7C3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4767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0354B-4475-4B88-888B-54AF79DA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00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38"/>
          </a:solidFill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E1C1D-68F4-4486-9A8C-CB720C7C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62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20D"/>
                </a:solidFill>
              </a:defRPr>
            </a:pPr>
            <a:r>
              <a:rPr sz="1275" b="1">
                <a:solidFill>
                  <a:srgbClr val="17120D"/>
                </a:solidFill>
              </a:rPr>
              <a:t>FIZZBUZZ / HACKATHON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EB08E-AA78-4FFD-B65E-1592406F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847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120D"/>
                </a:solidFill>
              </a:defRPr>
            </a:pPr>
            <a:r>
              <a:rPr sz="3750" b="1">
                <a:solidFill>
                  <a:srgbClr val="17120D"/>
                </a:solidFill>
              </a:rPr>
              <a:t>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0E2CE-9718-4EB8-A298-E5ACE010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0140C"/>
                </a:solidFill>
              </a:defRPr>
            </a:pPr>
            <a:r>
              <a:rPr sz="1800" b="1">
                <a:solidFill>
                  <a:srgbClr val="40140C"/>
                </a:solidFill>
              </a:rPr>
              <a:t>Roommate conflict is small enough to avoid and big enough to rot the apartment.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B92A1-DC05-4D20-94D6-F41C3102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1F26"/>
          </a:solidFill>
          <a:ln xmlns:a="http://schemas.openxmlformats.org/drawingml/2006/main" w="28575">
            <a:solidFill>
              <a:srgbClr val="17120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ACEBF-9281-4ED4-ADBC-E3F94C39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526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20D"/>
                </a:solidFill>
              </a:defRPr>
            </a:pPr>
            <a:r>
              <a:rPr sz="1500" b="1">
                <a:solidFill>
                  <a:srgbClr val="17120D"/>
                </a:solidFill>
              </a:rPr>
              <a:t>People rehearse what to say in their heads, then still freeze at the door.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37F7A-12A8-40AC-BE9A-1E53EE2E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1F26"/>
          </a:solidFill>
          <a:ln xmlns:a="http://schemas.openxmlformats.org/drawingml/2006/main" w="28575">
            <a:solidFill>
              <a:srgbClr val="17120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A235A-9292-48F1-A5DA-FE58510D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20D"/>
                </a:solidFill>
              </a:defRPr>
            </a:pPr>
            <a:r>
              <a:rPr sz="1500" b="1">
                <a:solidFill>
                  <a:srgbClr val="17120D"/>
                </a:solidFill>
              </a:rPr>
              <a:t>Advice apps feel too clinical; comedy lowers the stakes enough to practice.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96FCE-3F8E-46DC-9081-B9CA8C55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1F26"/>
          </a:solidFill>
          <a:ln xmlns:a="http://schemas.openxmlformats.org/drawingml/2006/main" w="28575">
            <a:solidFill>
              <a:srgbClr val="17120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9D65A-3109-486B-A8E1-2EACF96F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20D"/>
                </a:solidFill>
              </a:defRPr>
            </a:pPr>
            <a:r>
              <a:rPr sz="1500" b="1">
                <a:solidFill>
                  <a:srgbClr val="17120D"/>
                </a:solidFill>
              </a:rPr>
              <a:t>The best demo conflict is instantly legible: the exploded freezer Coke incident.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B6478-10E9-4277-B8A7-A5E3D9B7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38350"/>
            <a:ext cx="36576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38"/>
          </a:solidFill>
          <a:ln xmlns:a="http://schemas.openxmlformats.org/drawingml/2006/main" w="57150">
            <a:solidFill>
              <a:srgbClr val="17120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F4A5E3-B87D-4203-8E21-76824718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050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7120D"/>
                </a:solidFill>
              </a:defRPr>
            </a:pPr>
            <a:r>
              <a:rPr sz="2625" b="1">
                <a:solidFill>
                  <a:srgbClr val="17120D"/>
                </a:solidFill>
              </a:rPr>
              <a:t>One Sentence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3C28DD-8BEC-4959-BA8E-873D8A1D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71800"/>
            <a:ext cx="2800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0140C"/>
                </a:solidFill>
              </a:defRPr>
            </a:pPr>
            <a:r>
              <a:rPr sz="1875" b="1">
                <a:solidFill>
                  <a:srgbClr val="40140C"/>
                </a:solidFill>
              </a:rPr>
              <a:t>A funny AI practice arena for confronting your roommate without losing your mind.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804E9-E733-45D6-A954-7734A290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00625"/>
            <a:ext cx="445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F9C93-3085-4458-BD72-B7854F1A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53000"/>
            <a:ext cx="445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2"/>
          </a:solidFill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DA6228-2D05-4C87-A574-6516F28F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292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8E7"/>
                </a:solidFill>
              </a:defRPr>
            </a:pPr>
            <a:r>
              <a:rPr sz="1275" b="1">
                <a:solidFill>
                  <a:srgbClr val="FFF8E7"/>
                </a:solidFill>
              </a:rPr>
              <a:t>VALUE: PRACTICE, NOT PUNISHMENT</a:t>
            </a:r>
          </a:p>
        </p:txBody>
      </p:sp>
    </p:spTree>
    <p:extLst>
      <p:ext uri="{BB962C8B-B14F-4D97-AF65-F5344CB8AC3E}">
        <p14:creationId xmlns:p14="http://schemas.microsoft.com/office/powerpoint/2010/main" val="17256318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2B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71CB42-667F-4988-AA28-EEF59D48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28600"/>
            <a:ext cx="116967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289BC-EFF8-42F2-B4EE-05B76CA0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4767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134DB-2F11-449C-9B70-7C3F2BA7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00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38"/>
          </a:solidFill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2FF7E-260E-4A0F-97F9-8A5F5F2C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62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20D"/>
                </a:solidFill>
              </a:defRPr>
            </a:pPr>
            <a:r>
              <a:rPr sz="1275" b="1">
                <a:solidFill>
                  <a:srgbClr val="17120D"/>
                </a:solidFill>
              </a:rPr>
              <a:t>FIZZBUZZ / HACKATHON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1DBC9-1EBF-4A75-B594-A559E586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847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120D"/>
                </a:solidFill>
              </a:defRPr>
            </a:pPr>
            <a:r>
              <a:rPr sz="3750" b="1">
                <a:solidFill>
                  <a:srgbClr val="17120D"/>
                </a:solidFill>
              </a:rPr>
              <a:t>Live Demo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E3AAA-2621-4CF1-864A-19FAFB9E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0140C"/>
                </a:solidFill>
              </a:defRPr>
            </a:pPr>
            <a:r>
              <a:rPr sz="1800" b="1">
                <a:solidFill>
                  <a:srgbClr val="40140C"/>
                </a:solidFill>
              </a:rPr>
              <a:t>Judges can understand the loop in the first 20 seconds.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82FFD-5DE4-4D08-92FD-2015C9F2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57425"/>
            <a:ext cx="1524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11235-249D-4D3D-A996-52C26179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524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1F26"/>
          </a:solidFill>
          <a:ln xmlns:a="http://schemas.openxmlformats.org/drawingml/2006/main" w="47625">
            <a:solidFill>
              <a:srgbClr val="17120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1BE52-5141-44A7-A16A-AEAE62DC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8E7"/>
                </a:solidFill>
              </a:defRPr>
            </a:pPr>
            <a:r>
              <a:rPr sz="3450" b="1">
                <a:solidFill>
                  <a:srgbClr val="FFF8E7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3CA76-8A5E-4026-9220-1CDC76E6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62200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8E7"/>
                </a:solidFill>
              </a:defRPr>
            </a:pPr>
            <a:r>
              <a:rPr sz="1350" b="1">
                <a:solidFill>
                  <a:srgbClr val="FFF8E7"/>
                </a:solidFill>
              </a:rPr>
              <a:t>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845C8-0AB5-4E4A-8694-856F3D7F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8E7"/>
                </a:solidFill>
              </a:defRPr>
            </a:pPr>
            <a:r>
              <a:rPr sz="1200" b="1">
                <a:solidFill>
                  <a:srgbClr val="FFF8E7"/>
                </a:solidFill>
              </a:rPr>
              <a:t>Coke crime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D579C6-00CB-4FB6-BCD3-2F283003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57425"/>
            <a:ext cx="1524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A2449-1F47-4D06-9492-98CF9285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90750"/>
            <a:ext cx="1524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5B4"/>
          </a:solidFill>
          <a:ln xmlns:a="http://schemas.openxmlformats.org/drawingml/2006/main" w="47625">
            <a:solidFill>
              <a:srgbClr val="17120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8FEE3-8557-461E-897E-BA44889E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955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8E7"/>
                </a:solidFill>
              </a:defRPr>
            </a:pPr>
            <a:r>
              <a:rPr sz="3450" b="1">
                <a:solidFill>
                  <a:srgbClr val="FFF8E7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0FEB4-66D5-4B7D-90AB-F0F31CA1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8E7"/>
                </a:solidFill>
              </a:defRPr>
            </a:pPr>
            <a:r>
              <a:rPr sz="1350" b="1">
                <a:solidFill>
                  <a:srgbClr val="FFF8E7"/>
                </a:solidFill>
              </a:rPr>
              <a:t>Photo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7C62A-4A25-4D17-82FD-3F690D1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384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8E7"/>
                </a:solidFill>
              </a:defRPr>
            </a:pPr>
            <a:r>
              <a:rPr sz="1200" b="1">
                <a:solidFill>
                  <a:srgbClr val="FFF8E7"/>
                </a:solidFill>
              </a:rPr>
              <a:t>Roommate photo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7807FF-84D0-489C-92A3-72A7B242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57425"/>
            <a:ext cx="1524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2788A3-ED13-45F9-9164-1E0C37E2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90750"/>
            <a:ext cx="1524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35B7"/>
          </a:solidFill>
          <a:ln xmlns:a="http://schemas.openxmlformats.org/drawingml/2006/main" w="47625">
            <a:solidFill>
              <a:srgbClr val="17120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ECDB3B-E272-4779-A21D-071FB3DE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955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8E7"/>
                </a:solidFill>
              </a:defRPr>
            </a:pPr>
            <a:r>
              <a:rPr sz="3450" b="1">
                <a:solidFill>
                  <a:srgbClr val="FFF8E7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3AFB35-37B9-45E4-97FB-F3DDA0D3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62200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8E7"/>
                </a:solidFill>
              </a:defRPr>
            </a:pPr>
            <a:r>
              <a:rPr sz="1350" b="1">
                <a:solidFill>
                  <a:srgbClr val="FFF8E7"/>
                </a:solidFill>
              </a:rPr>
              <a:t>Knock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8DBFE-F64E-4C47-B966-912E0822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384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8E7"/>
                </a:solidFill>
              </a:defRPr>
            </a:pPr>
            <a:r>
              <a:rPr sz="1200" b="1">
                <a:solidFill>
                  <a:srgbClr val="FFF8E7"/>
                </a:solidFill>
              </a:rPr>
              <a:t>Door opens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B60CD7-8691-4B08-966E-4B25D4E1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57425"/>
            <a:ext cx="1524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09145A-D118-47CE-B353-3C8EE5F2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90750"/>
            <a:ext cx="1524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2"/>
          </a:solidFill>
          <a:ln xmlns:a="http://schemas.openxmlformats.org/drawingml/2006/main" w="47625">
            <a:solidFill>
              <a:srgbClr val="17120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964986-90DD-4E0D-95AE-FC6DCA72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955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8E7"/>
                </a:solidFill>
              </a:defRPr>
            </a:pPr>
            <a:r>
              <a:rPr sz="3450" b="1">
                <a:solidFill>
                  <a:srgbClr val="FFF8E7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10F0D1-5470-4630-A082-92052816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62200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8E7"/>
                </a:solidFill>
              </a:defRPr>
            </a:pPr>
            <a:r>
              <a:rPr sz="1350" b="1">
                <a:solidFill>
                  <a:srgbClr val="FFF8E7"/>
                </a:solidFill>
              </a:rPr>
              <a:t>Speak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42C446-1DFB-4B56-A9F4-82CBA3CD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384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8E7"/>
                </a:solidFill>
              </a:defRPr>
            </a:pPr>
            <a:r>
              <a:rPr sz="1200" b="1">
                <a:solidFill>
                  <a:srgbClr val="FFF8E7"/>
                </a:solidFill>
              </a:rPr>
              <a:t>Speak live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F352A2-5475-49A0-932B-BFA6401E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57425"/>
            <a:ext cx="1524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10FA73-AB8A-4416-86AE-6D9B5E5C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90750"/>
            <a:ext cx="1524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140C"/>
          </a:solidFill>
          <a:ln xmlns:a="http://schemas.openxmlformats.org/drawingml/2006/main" w="47625">
            <a:solidFill>
              <a:srgbClr val="17120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F7E02B-EC4C-4A60-907A-6E3918A4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955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8E7"/>
                </a:solidFill>
              </a:defRPr>
            </a:pPr>
            <a:r>
              <a:rPr sz="3450" b="1">
                <a:solidFill>
                  <a:srgbClr val="FFF8E7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12DA4E-7946-463D-8F2D-7D8CC5E2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62200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8E7"/>
                </a:solidFill>
              </a:defRPr>
            </a:pPr>
            <a:r>
              <a:rPr sz="1350" b="1">
                <a:solidFill>
                  <a:srgbClr val="FFF8E7"/>
                </a:solidFill>
              </a:rPr>
              <a:t>Dodge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F570EC-41FF-482B-ACC9-553041AF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8E7"/>
                </a:solidFill>
              </a:defRPr>
            </a:pPr>
            <a:r>
              <a:rPr sz="1200" b="1">
                <a:solidFill>
                  <a:srgbClr val="FFF8E7"/>
                </a:solidFill>
              </a:rPr>
              <a:t>AI dodges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FF8493-717A-4A5B-AD10-A6E72689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257425"/>
            <a:ext cx="1524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60B61C-0697-465A-B971-2324199B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190750"/>
            <a:ext cx="1524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F2D"/>
          </a:solidFill>
          <a:ln xmlns:a="http://schemas.openxmlformats.org/drawingml/2006/main" w="47625">
            <a:solidFill>
              <a:srgbClr val="17120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46B2BF-4624-46F5-9576-2BA8373F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2955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8E7"/>
                </a:solidFill>
              </a:defRPr>
            </a:pPr>
            <a:r>
              <a:rPr sz="3450" b="1">
                <a:solidFill>
                  <a:srgbClr val="FFF8E7"/>
                </a:solidFill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3A94FF-D365-4952-841D-A12BB368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362200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8E7"/>
                </a:solidFill>
              </a:defRPr>
            </a:pPr>
            <a:r>
              <a:rPr sz="1350" b="1">
                <a:solidFill>
                  <a:srgbClr val="FFF8E7"/>
                </a:solidFill>
              </a:rPr>
              <a:t>Card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E2601E-B683-4A0F-928E-BE954234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384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8E7"/>
                </a:solidFill>
              </a:defRPr>
            </a:pPr>
            <a:r>
              <a:rPr sz="1200" b="1">
                <a:solidFill>
                  <a:srgbClr val="FFF8E7"/>
                </a:solidFill>
              </a:rPr>
              <a:t>Fight card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BE1E77-8E0C-47C1-9C54-E53953D2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20D"/>
                </a:solidFill>
              </a:defRPr>
            </a:pPr>
            <a:r>
              <a:rPr sz="2625" b="1">
                <a:solidFill>
                  <a:srgbClr val="17120D"/>
                </a:solidFill>
              </a:rPr>
              <a:t>Audience Sees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881625-15A6-49A4-A5A9-33D2AC3D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1F26"/>
          </a:solidFill>
          <a:ln xmlns:a="http://schemas.openxmlformats.org/drawingml/2006/main" w="28575">
            <a:solidFill>
              <a:srgbClr val="17120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3B1CFC-6D42-4CB2-8F52-7258B751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815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20D"/>
                </a:solidFill>
              </a:defRPr>
            </a:pPr>
            <a:r>
              <a:rPr sz="1500" b="1">
                <a:solidFill>
                  <a:srgbClr val="17120D"/>
                </a:solidFill>
              </a:rPr>
              <a:t>Animated door transition keeps the demo theatrical.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188817-3EF7-4045-87D8-B3945625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1F26"/>
          </a:solidFill>
          <a:ln xmlns:a="http://schemas.openxmlformats.org/drawingml/2006/main" w="28575">
            <a:solidFill>
              <a:srgbClr val="17120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5C58B6-ED41-426A-A6ED-DEFA565C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673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20D"/>
                </a:solidFill>
              </a:defRPr>
            </a:pPr>
            <a:r>
              <a:rPr sz="1500" b="1">
                <a:solidFill>
                  <a:srgbClr val="17120D"/>
                </a:solidFill>
              </a:rPr>
              <a:t>Deepgram captions make the sponsor integration visible.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5FB71B-8DB2-49A8-AF31-BB05A63E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386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20D"/>
                </a:solidFill>
              </a:defRPr>
            </a:pPr>
            <a:r>
              <a:rPr sz="2625" b="1">
                <a:solidFill>
                  <a:srgbClr val="17120D"/>
                </a:solidFill>
              </a:rPr>
              <a:t>Judges Remember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718E77-966C-450F-914E-E28C73D2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1F26"/>
          </a:solidFill>
          <a:ln xmlns:a="http://schemas.openxmlformats.org/drawingml/2006/main" w="28575">
            <a:solidFill>
              <a:srgbClr val="17120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552B79-349D-4E88-A5B7-126B737A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815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20D"/>
                </a:solidFill>
              </a:defRPr>
            </a:pPr>
            <a:r>
              <a:rPr sz="1500" b="1">
                <a:solidFill>
                  <a:srgbClr val="17120D"/>
                </a:solidFill>
              </a:rPr>
              <a:t>The product converts a tense real-life moment into structured practice.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69F031-0CF3-4CA7-BC74-C840BCA2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1F26"/>
          </a:solidFill>
          <a:ln xmlns:a="http://schemas.openxmlformats.org/drawingml/2006/main" w="28575">
            <a:solidFill>
              <a:srgbClr val="17120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3051A7-E2FE-44CC-B67B-6B37AC36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4673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20D"/>
                </a:solidFill>
              </a:defRPr>
            </a:pPr>
            <a:r>
              <a:rPr sz="1500" b="1">
                <a:solidFill>
                  <a:srgbClr val="17120D"/>
                </a:solidFill>
              </a:rPr>
              <a:t>Every external API has a fallback, so the demo keeps moving.</a:t>
            </a:r>
          </a:p>
        </p:txBody>
      </p:sp>
    </p:spTree>
    <p:extLst>
      <p:ext uri="{BB962C8B-B14F-4D97-AF65-F5344CB8AC3E}">
        <p14:creationId xmlns:p14="http://schemas.microsoft.com/office/powerpoint/2010/main" val="14070540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1FCA02-2AF0-4627-A76D-5EB407EC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28600"/>
            <a:ext cx="116967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74A9A-54A1-4C96-B3D7-38B5AE06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4767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25DC8-389B-45A4-8962-EAC23048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00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38"/>
          </a:solidFill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5192D-02F2-4435-BAF4-2A176621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62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20D"/>
                </a:solidFill>
              </a:defRPr>
            </a:pPr>
            <a:r>
              <a:rPr sz="1275" b="1">
                <a:solidFill>
                  <a:srgbClr val="17120D"/>
                </a:solidFill>
              </a:rPr>
              <a:t>FIZZBUZZ / HACKATHON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A24BA-85AB-494F-9958-57882FA4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847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120D"/>
                </a:solidFill>
              </a:defRPr>
            </a:pPr>
            <a:r>
              <a:rPr sz="3750" b="1">
                <a:solidFill>
                  <a:srgbClr val="17120D"/>
                </a:solidFill>
              </a:rPr>
              <a:t>The Product Moment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626D5-8212-4A2E-BFD0-FF4187CB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0140C"/>
                </a:solidFill>
              </a:defRPr>
            </a:pPr>
            <a:r>
              <a:rPr sz="1800" b="1">
                <a:solidFill>
                  <a:srgbClr val="40140C"/>
                </a:solidFill>
              </a:rPr>
              <a:t>The setup screen makes the joke and the job-to-be-done obvious.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72357-5655-4D4C-8ECD-58DDE3AA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6381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451FE-F4A6-463F-B7E1-BF3A5431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6381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47625">
            <a:solidFill>
              <a:srgbClr val="17120D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742e18eb24813"/>
          <a:srcRect xmlns:a="http://schemas.openxmlformats.org/drawingml/2006/main" l="0" t="395" r="0" b="3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1809750"/>
            <a:ext cx="6267450" cy="3886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C443F-84AA-4EAA-BDDA-9B6C6F8F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002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20D"/>
                </a:solidFill>
              </a:defRPr>
            </a:pPr>
            <a:r>
              <a:rPr sz="2625" b="1">
                <a:solidFill>
                  <a:srgbClr val="17120D"/>
                </a:solidFill>
              </a:rPr>
              <a:t>Setup gives the AI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B0C45-3C44-4440-9935-022BBE0C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1F26"/>
          </a:solidFill>
          <a:ln xmlns:a="http://schemas.openxmlformats.org/drawingml/2006/main" w="28575">
            <a:solidFill>
              <a:srgbClr val="17120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C772B7-76B4-42C0-BE7C-A08EDC5F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051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20D"/>
                </a:solidFill>
              </a:defRPr>
            </a:pPr>
            <a:r>
              <a:rPr sz="1500" b="1">
                <a:solidFill>
                  <a:srgbClr val="17120D"/>
                </a:solidFill>
              </a:rPr>
              <a:t>Conflict description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BFA8E0-A591-4B3B-8E7F-C733F153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33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1F26"/>
          </a:solidFill>
          <a:ln xmlns:a="http://schemas.openxmlformats.org/drawingml/2006/main" w="28575">
            <a:solidFill>
              <a:srgbClr val="17120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68D47-85BA-4FEF-BEB2-B4627A2C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575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20D"/>
                </a:solidFill>
              </a:defRPr>
            </a:pPr>
            <a:r>
              <a:rPr sz="1500" b="1">
                <a:solidFill>
                  <a:srgbClr val="17120D"/>
                </a:solidFill>
              </a:rPr>
              <a:t>Photo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F6C327-F525-405C-8AC0-DB6C7BA5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86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1F26"/>
          </a:solidFill>
          <a:ln xmlns:a="http://schemas.openxmlformats.org/drawingml/2006/main" w="28575">
            <a:solidFill>
              <a:srgbClr val="17120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2A1F55-3F2E-48CF-9212-D63337DE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100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20D"/>
                </a:solidFill>
              </a:defRPr>
            </a:pPr>
            <a:r>
              <a:rPr sz="1500" b="1">
                <a:solidFill>
                  <a:srgbClr val="17120D"/>
                </a:solidFill>
              </a:rPr>
              <a:t>Evidence + aggro sliders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E1654B-2DF2-4B75-9EA0-C5E597EF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38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1F26"/>
          </a:solidFill>
          <a:ln xmlns:a="http://schemas.openxmlformats.org/drawingml/2006/main" w="28575">
            <a:solidFill>
              <a:srgbClr val="17120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CE2C8-983C-4C60-AB71-AE960C01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624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20D"/>
                </a:solidFill>
              </a:defRPr>
            </a:pPr>
            <a:r>
              <a:rPr sz="1500" b="1">
                <a:solidFill>
                  <a:srgbClr val="17120D"/>
                </a:solidFill>
              </a:rPr>
              <a:t>Voice style selection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2453F8-551D-40E3-B857-F72038E0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267325"/>
            <a:ext cx="3295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D1E06B-C612-4082-943F-CCD039D7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3295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1F26"/>
          </a:solidFill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AB3F7D-8C4E-4464-97F8-ABA45126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9590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8E7"/>
                </a:solidFill>
              </a:defRPr>
            </a:pPr>
            <a:r>
              <a:rPr sz="1275" b="1">
                <a:solidFill>
                  <a:srgbClr val="FFF8E7"/>
                </a:solidFill>
              </a:rPr>
              <a:t>COMEDY UI WITH REAL INPUTS</a:t>
            </a:r>
          </a:p>
        </p:txBody>
      </p:sp>
    </p:spTree>
    <p:extLst>
      <p:ext uri="{BB962C8B-B14F-4D97-AF65-F5344CB8AC3E}">
        <p14:creationId xmlns:p14="http://schemas.microsoft.com/office/powerpoint/2010/main" val="11474884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2B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D05C81-7C57-429B-9D9D-E0EA5750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28600"/>
            <a:ext cx="116967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6CEA0-3A24-435D-962F-6D827469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4767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2B627-AC98-4AD4-9BA3-88589F7F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00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38"/>
          </a:solidFill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41032-C9D0-4123-AFDD-BF4B2172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62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20D"/>
                </a:solidFill>
              </a:defRPr>
            </a:pPr>
            <a:r>
              <a:rPr sz="1275" b="1">
                <a:solidFill>
                  <a:srgbClr val="17120D"/>
                </a:solidFill>
              </a:rPr>
              <a:t>FIZZBUZZ / HACKATHON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80D3E-F513-4B18-AC6A-BECF0FAA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847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120D"/>
                </a:solidFill>
              </a:defRPr>
            </a:pPr>
            <a:r>
              <a:rPr sz="3750" b="1">
                <a:solidFill>
                  <a:srgbClr val="17120D"/>
                </a:solidFill>
              </a:rPr>
              <a:t>Confrontation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564A0-2169-42B7-BD67-CB388179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0140C"/>
                </a:solidFill>
              </a:defRPr>
            </a:pPr>
            <a:r>
              <a:rPr sz="1800" b="1">
                <a:solidFill>
                  <a:srgbClr val="40140C"/>
                </a:solidFill>
              </a:rPr>
              <a:t>Speech turns become boss-battle progress and coaching signals.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EDF39-7EED-49E5-B053-89690814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64008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F2656-C0BF-4040-B52B-6EBFD5FA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4008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47625">
            <a:solidFill>
              <a:srgbClr val="17120D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123e56c7244a3"/>
          <a:srcRect xmlns:a="http://schemas.openxmlformats.org/drawingml/2006/main" l="658" t="0" r="6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733550"/>
            <a:ext cx="6286500" cy="39814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92AD3-AFE4-40E8-B8E4-1A2B7A47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669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20D"/>
                </a:solidFill>
              </a:defRPr>
            </a:pPr>
            <a:r>
              <a:rPr sz="2625" b="1">
                <a:solidFill>
                  <a:srgbClr val="17120D"/>
                </a:solidFill>
              </a:rPr>
              <a:t>Visible sponsor beats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55D81-9148-4B6B-834E-7804AA58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52700"/>
            <a:ext cx="2762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55B4"/>
          </a:solidFill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02864-69A6-4FD7-8CC2-C3CB8712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5747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8E7"/>
                </a:solidFill>
              </a:defRPr>
            </a:pPr>
            <a:r>
              <a:rPr sz="1275" b="1">
                <a:solidFill>
                  <a:srgbClr val="FFF8E7"/>
                </a:solidFill>
              </a:rPr>
              <a:t>Deepgram Referee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3952D-1160-404E-9A4B-34B36243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43250"/>
            <a:ext cx="2762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535B7"/>
          </a:solidFill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0AB12-2207-44D3-9F4F-757C65B7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4802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8E7"/>
                </a:solidFill>
              </a:defRPr>
            </a:pPr>
            <a:r>
              <a:rPr sz="1275" b="1">
                <a:solidFill>
                  <a:srgbClr val="FFF8E7"/>
                </a:solidFill>
              </a:rPr>
              <a:t>Aura TTS Roommate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D3E6BD-B51F-462D-928F-36B609F2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33800"/>
            <a:ext cx="2762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41F26"/>
          </a:solidFill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3C8B67-F6E4-4141-BA45-62CA276A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3857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8E7"/>
                </a:solidFill>
              </a:defRPr>
            </a:pPr>
            <a:r>
              <a:rPr sz="1275" b="1">
                <a:solidFill>
                  <a:srgbClr val="FFF8E7"/>
                </a:solidFill>
              </a:rPr>
              <a:t>Gemini Deflection Engine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FEF740-A352-4659-8252-2A499322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24350"/>
            <a:ext cx="2762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3F258-8785-43EF-8992-2AFFD863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2912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8E7"/>
                </a:solidFill>
              </a:defRPr>
            </a:pPr>
            <a:r>
              <a:rPr sz="1275" b="1">
                <a:solidFill>
                  <a:srgbClr val="FFF8E7"/>
                </a:solidFill>
              </a:rPr>
              <a:t>Pika Media Hook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7B14E-B297-4D36-9791-8EA1D9EB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62550"/>
            <a:ext cx="352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0140C"/>
                </a:solidFill>
              </a:defRPr>
            </a:pPr>
            <a:r>
              <a:rPr sz="1425" b="1">
                <a:solidFill>
                  <a:srgbClr val="40140C"/>
                </a:solidFill>
              </a:rPr>
              <a:t>The UX turns latency and transcripts into part of the game, so technical state is readable on stage.</a:t>
            </a:r>
          </a:p>
        </p:txBody>
      </p:sp>
    </p:spTree>
    <p:extLst>
      <p:ext uri="{BB962C8B-B14F-4D97-AF65-F5344CB8AC3E}">
        <p14:creationId xmlns:p14="http://schemas.microsoft.com/office/powerpoint/2010/main" val="1108518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2E8F1F-0DC7-4544-AFE5-CB54CB36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28600"/>
            <a:ext cx="116967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15CC4-D8C9-4C74-8102-60112410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4767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C0D41-AB3C-4D93-BEEB-BAADEDE6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00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38"/>
          </a:solidFill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47797-8F19-490F-9AA3-1C5EC233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62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20D"/>
                </a:solidFill>
              </a:defRPr>
            </a:pPr>
            <a:r>
              <a:rPr sz="1275" b="1">
                <a:solidFill>
                  <a:srgbClr val="17120D"/>
                </a:solidFill>
              </a:rPr>
              <a:t>FIZZBUZZ / HACKATHON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D1AED-D2C9-4196-AADB-4787D6BC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847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120D"/>
                </a:solidFill>
              </a:defRPr>
            </a:pPr>
            <a:r>
              <a:rPr sz="3750" b="1">
                <a:solidFill>
                  <a:srgbClr val="17120D"/>
                </a:solidFill>
              </a:rPr>
              <a:t>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B16D5-2B3D-457A-BAD0-07FA8EB8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0140C"/>
                </a:solidFill>
              </a:defRPr>
            </a:pPr>
            <a:r>
              <a:rPr sz="1800" b="1">
                <a:solidFill>
                  <a:srgbClr val="40140C"/>
                </a:solidFill>
              </a:rPr>
              <a:t>One Express/Vite app, multiple AI services, fallbacks everywhere.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5ECFE-E450-4E6E-B363-832713FC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765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7120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BF90C-817A-4124-9AB5-674924A3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762000" cy="-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7120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5414F-5CE9-4DE3-97D6-3A1B5333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05150"/>
            <a:ext cx="76200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7120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4BC2B-D456-4E80-8685-D58B982D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526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7120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F58F4-76AA-4C78-B31E-230398CE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004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7120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21C74-B3FD-4D06-A9FC-FB4D3707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52650"/>
            <a:ext cx="57150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7120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E76261-DED2-4431-AC82-A5DF97BE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00450"/>
            <a:ext cx="571500" cy="-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7120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B95AD-17B1-4CBA-885E-C1E78FDB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71725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16E21-20EB-4947-8BFD-633E3A7A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38"/>
          </a:solidFill>
          <a:ln xmlns:a="http://schemas.openxmlformats.org/drawingml/2006/main" w="47625">
            <a:solidFill>
              <a:srgbClr val="17120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0782AA-2FE3-49C7-A768-824C18EF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20D"/>
                </a:solidFill>
              </a:defRPr>
            </a:pPr>
            <a:r>
              <a:rPr sz="1650" b="1">
                <a:solidFill>
                  <a:srgbClr val="17120D"/>
                </a:solidFill>
              </a:rPr>
              <a:t>Browser UI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44A45-48C5-4664-BEB8-45C3D738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371725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12B3F6-D29E-49C3-9778-409BCA07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050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1F26"/>
          </a:solidFill>
          <a:ln xmlns:a="http://schemas.openxmlformats.org/drawingml/2006/main" w="47625">
            <a:solidFill>
              <a:srgbClr val="17120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71A423-BE90-48A5-B6C8-2A67E676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24125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8E7"/>
                </a:solidFill>
              </a:defRPr>
            </a:pPr>
            <a:r>
              <a:rPr sz="1650" b="1">
                <a:solidFill>
                  <a:srgbClr val="FFF8E7"/>
                </a:solidFill>
              </a:rPr>
              <a:t>Express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C25B77-DD3E-434C-9EC3-E44F0385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647825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21B67F-6F39-4221-9098-46266CF7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5811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5B4"/>
          </a:solidFill>
          <a:ln xmlns:a="http://schemas.openxmlformats.org/drawingml/2006/main" w="47625">
            <a:solidFill>
              <a:srgbClr val="17120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E84031-B222-4B56-A6AB-8490F675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800225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8E7"/>
                </a:solidFill>
              </a:defRPr>
            </a:pPr>
            <a:r>
              <a:rPr sz="1650" b="1">
                <a:solidFill>
                  <a:srgbClr val="FFF8E7"/>
                </a:solidFill>
              </a:rPr>
              <a:t>Deepgram</a:t>
            </a:r>
          </a:p>
          <a:p xmlns:a="http://schemas.openxmlformats.org/drawingml/2006/main">
            <a:pPr algn="ctr">
              <a:defRPr sz="1650" b="1">
                <a:solidFill>
                  <a:srgbClr val="FFF8E7"/>
                </a:solidFill>
              </a:defRPr>
            </a:pPr>
            <a:r>
              <a:rPr sz="1650" b="1">
                <a:solidFill>
                  <a:srgbClr val="FFF8E7"/>
                </a:solidFill>
              </a:rPr>
              <a:t>STT /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9651C9-804C-45C0-8658-0C99B6C9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095625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0722DB-EFCE-41EE-90E7-19D4AB20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289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35B7"/>
          </a:solidFill>
          <a:ln xmlns:a="http://schemas.openxmlformats.org/drawingml/2006/main" w="47625">
            <a:solidFill>
              <a:srgbClr val="17120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6AB268-64CB-48BF-BFDD-D87853DD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48025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8E7"/>
                </a:solidFill>
              </a:defRPr>
            </a:pPr>
            <a:r>
              <a:rPr sz="1650" b="1">
                <a:solidFill>
                  <a:srgbClr val="FFF8E7"/>
                </a:solidFill>
              </a:rPr>
              <a:t>Gemini</a:t>
            </a:r>
          </a:p>
          <a:p xmlns:a="http://schemas.openxmlformats.org/drawingml/2006/main">
            <a:pPr algn="ctr">
              <a:defRPr sz="1650" b="1">
                <a:solidFill>
                  <a:srgbClr val="FFF8E7"/>
                </a:solidFill>
              </a:defRPr>
            </a:pPr>
            <a:r>
              <a:rPr sz="1650" b="1">
                <a:solidFill>
                  <a:srgbClr val="FFF8E7"/>
                </a:solidFill>
              </a:rPr>
              <a:t>Dialogue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34BA2A-6F50-48B5-B184-6439D343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647825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7E9213-9990-4A98-A5FF-CA262D15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811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2"/>
          </a:solidFill>
          <a:ln xmlns:a="http://schemas.openxmlformats.org/drawingml/2006/main" w="47625">
            <a:solidFill>
              <a:srgbClr val="17120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407C8F-41C7-43B6-AB20-6CD408EA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00225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8E7"/>
                </a:solidFill>
              </a:defRPr>
            </a:pPr>
            <a:r>
              <a:rPr sz="1650" b="1">
                <a:solidFill>
                  <a:srgbClr val="FFF8E7"/>
                </a:solidFill>
              </a:rPr>
              <a:t>Deepgram</a:t>
            </a:r>
          </a:p>
          <a:p xmlns:a="http://schemas.openxmlformats.org/drawingml/2006/main">
            <a:pPr algn="ctr">
              <a:defRPr sz="1650" b="1">
                <a:solidFill>
                  <a:srgbClr val="FFF8E7"/>
                </a:solidFill>
              </a:defRPr>
            </a:pPr>
            <a:r>
              <a:rPr sz="1650" b="1">
                <a:solidFill>
                  <a:srgbClr val="FFF8E7"/>
                </a:solidFill>
              </a:rPr>
              <a:t>Aura TTS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8E3B96-78E8-48A3-BAEB-40BFC185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095625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D791B8-F17F-4031-BED4-388195E6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289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F2D"/>
          </a:solidFill>
          <a:ln xmlns:a="http://schemas.openxmlformats.org/drawingml/2006/main" w="47625">
            <a:solidFill>
              <a:srgbClr val="17120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B617EB-F33A-4292-9139-356A5103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48025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8E7"/>
                </a:solidFill>
              </a:defRPr>
            </a:pPr>
            <a:r>
              <a:rPr sz="1650" b="1">
                <a:solidFill>
                  <a:srgbClr val="FFF8E7"/>
                </a:solidFill>
              </a:rPr>
              <a:t>Pika</a:t>
            </a:r>
          </a:p>
          <a:p xmlns:a="http://schemas.openxmlformats.org/drawingml/2006/main">
            <a:pPr algn="ctr">
              <a:defRPr sz="1650" b="1">
                <a:solidFill>
                  <a:srgbClr val="FFF8E7"/>
                </a:solidFill>
              </a:defRPr>
            </a:pPr>
            <a:r>
              <a:rPr sz="1650" b="1">
                <a:solidFill>
                  <a:srgbClr val="FFF8E7"/>
                </a:solidFill>
              </a:rPr>
              <a:t>Video Hook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E7A433-96BB-4B7F-8649-7DF497E0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371725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409DD9-9647-4878-9BD0-006C877D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050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140C"/>
          </a:solidFill>
          <a:ln xmlns:a="http://schemas.openxmlformats.org/drawingml/2006/main" w="47625">
            <a:solidFill>
              <a:srgbClr val="17120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881BB2-4E61-4E3C-9629-26E5C696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24125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8E7"/>
                </a:solidFill>
              </a:defRPr>
            </a:pPr>
            <a:r>
              <a:rPr sz="1650" b="1">
                <a:solidFill>
                  <a:srgbClr val="FFF8E7"/>
                </a:solidFill>
              </a:rPr>
              <a:t>Boss Battle</a:t>
            </a:r>
          </a:p>
          <a:p xmlns:a="http://schemas.openxmlformats.org/drawingml/2006/main">
            <a:pPr algn="ctr">
              <a:defRPr sz="1650" b="1">
                <a:solidFill>
                  <a:srgbClr val="FFF8E7"/>
                </a:solidFill>
              </a:defRPr>
            </a:pPr>
            <a:r>
              <a:rPr sz="1650" b="1">
                <a:solidFill>
                  <a:srgbClr val="FFF8E7"/>
                </a:solidFill>
              </a:rPr>
              <a:t>State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50B938-CB7A-420B-92EA-7CB3089B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248275"/>
            <a:ext cx="445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4994D8-346D-40A7-AB0E-6B0D5913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200650"/>
            <a:ext cx="445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38"/>
          </a:solidFill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E77C2D-309A-4B0E-A016-487B0551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20D"/>
                </a:solidFill>
              </a:defRPr>
            </a:pPr>
            <a:r>
              <a:rPr sz="1275" b="1">
                <a:solidFill>
                  <a:srgbClr val="17120D"/>
                </a:solidFill>
              </a:rPr>
              <a:t>MOCK MODES KEEP THE LOOP ALIVE</a:t>
            </a:r>
          </a:p>
        </p:txBody>
      </p:sp>
    </p:spTree>
    <p:extLst>
      <p:ext uri="{BB962C8B-B14F-4D97-AF65-F5344CB8AC3E}">
        <p14:creationId xmlns:p14="http://schemas.microsoft.com/office/powerpoint/2010/main" val="19244062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2B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9B38FD-73D3-451E-8820-2DF72CED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28600"/>
            <a:ext cx="116967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EF05F-4AD7-4ECA-ACF9-57E930AF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4767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34056-0998-4BA8-A516-B81FC66E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00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38"/>
          </a:solidFill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F7B6A-F71D-4006-A254-D3F3DD94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62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20D"/>
                </a:solidFill>
              </a:defRPr>
            </a:pPr>
            <a:r>
              <a:rPr sz="1275" b="1">
                <a:solidFill>
                  <a:srgbClr val="17120D"/>
                </a:solidFill>
              </a:rPr>
              <a:t>FIZZBUZZ / HACKATHON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1DF1F-604F-4CD9-A7A5-A19DB4BE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847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120D"/>
                </a:solidFill>
              </a:defRPr>
            </a:pPr>
            <a:r>
              <a:rPr sz="3750" b="1">
                <a:solidFill>
                  <a:srgbClr val="17120D"/>
                </a:solidFill>
              </a:rPr>
              <a:t>Demo Reliability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CD63D-E599-4AB2-B95F-15E937FD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0140C"/>
                </a:solidFill>
              </a:defRPr>
            </a:pPr>
            <a:r>
              <a:rPr sz="1800" b="1">
                <a:solidFill>
                  <a:srgbClr val="40140C"/>
                </a:solidFill>
              </a:rPr>
              <a:t>The live pitch survives missing keys, slow media generation, and mic weirdness.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EF831-6B13-411D-BBA3-2B6EF54F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104584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47625">
            <a:solidFill>
              <a:srgbClr val="17120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440AD-EF34-436D-8FA2-365A0ED1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41F26"/>
                </a:solidFill>
              </a:defRPr>
            </a:pPr>
            <a:r>
              <a:rPr sz="1800" b="1">
                <a:solidFill>
                  <a:srgbClr val="E41F26"/>
                </a:solidFill>
              </a:rPr>
              <a:t>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E712C-D54A-4AC8-812B-A9C7F74D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336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55B4"/>
                </a:solidFill>
              </a:defRPr>
            </a:pPr>
            <a:r>
              <a:rPr sz="1800" b="1">
                <a:solidFill>
                  <a:srgbClr val="1855B4"/>
                </a:solidFill>
              </a:rPr>
              <a:t>Live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8EE44-D2C7-4E1A-ABBD-9BA5C39A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336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C8F2D"/>
                </a:solidFill>
              </a:defRPr>
            </a:pPr>
            <a:r>
              <a:rPr sz="1800" b="1">
                <a:solidFill>
                  <a:srgbClr val="5C8F2D"/>
                </a:solidFill>
              </a:rPr>
              <a:t>Fallback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12800-F442-40DE-B6F1-72EAA35C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017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66F5B-318D-4180-B2C4-F8F9629D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28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20D"/>
                </a:solidFill>
              </a:defRPr>
            </a:pPr>
            <a:r>
              <a:rPr sz="1500" b="1">
                <a:solidFill>
                  <a:srgbClr val="17120D"/>
                </a:solidFill>
              </a:rPr>
              <a:t>Gemini 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76C27E-E5ED-412F-8DFF-5DE43B9A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28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140C"/>
                </a:solidFill>
              </a:defRPr>
            </a:pPr>
            <a:r>
              <a:rPr sz="1350" b="1">
                <a:solidFill>
                  <a:srgbClr val="40140C"/>
                </a:solidFill>
              </a:rPr>
              <a:t>Scenario-aware roommate lines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63EC5-986A-4FCF-868F-9C55914F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289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140C"/>
                </a:solidFill>
              </a:defRPr>
            </a:pPr>
            <a:r>
              <a:rPr sz="1350" b="1">
                <a:solidFill>
                  <a:srgbClr val="40140C"/>
                </a:solidFill>
              </a:rPr>
              <a:t>Canned excuse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3352D-9E53-4DE0-8D60-7A73446F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20D"/>
                </a:solidFill>
              </a:defRPr>
            </a:pPr>
            <a:r>
              <a:rPr sz="1500" b="1">
                <a:solidFill>
                  <a:srgbClr val="17120D"/>
                </a:solidFill>
              </a:rPr>
              <a:t>Deepgram STT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59116-2393-4E53-B606-BA40895D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242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140C"/>
                </a:solidFill>
              </a:defRPr>
            </a:pPr>
            <a:r>
              <a:rPr sz="1350" b="1">
                <a:solidFill>
                  <a:srgbClr val="40140C"/>
                </a:solidFill>
              </a:rPr>
              <a:t>Flux/Nova live transcript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DB4FED-5574-4CFB-A855-3BA8AB6D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24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140C"/>
                </a:solidFill>
              </a:defRPr>
            </a:pPr>
            <a:r>
              <a:rPr sz="1350" b="1">
                <a:solidFill>
                  <a:srgbClr val="40140C"/>
                </a:solidFill>
              </a:rPr>
              <a:t>Browser speech recognition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4544AF-CD52-4612-9AC9-59706D58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1017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D3ECD2-60B3-4018-BECF-2F09A124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19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20D"/>
                </a:solidFill>
              </a:defRPr>
            </a:pPr>
            <a:r>
              <a:rPr sz="1500" b="1">
                <a:solidFill>
                  <a:srgbClr val="17120D"/>
                </a:solidFill>
              </a:rPr>
              <a:t>Deepgram TTS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4EFA01-99DE-40A4-9108-C4EE69D9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19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140C"/>
                </a:solidFill>
              </a:defRPr>
            </a:pPr>
            <a:r>
              <a:rPr sz="1350" b="1">
                <a:solidFill>
                  <a:srgbClr val="40140C"/>
                </a:solidFill>
              </a:rPr>
              <a:t>Aura roommate voice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015A9E-AD46-4ED9-AA3E-21906864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19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140C"/>
                </a:solidFill>
              </a:defRPr>
            </a:pPr>
            <a:r>
              <a:rPr sz="1350" b="1">
                <a:solidFill>
                  <a:srgbClr val="40140C"/>
                </a:solidFill>
              </a:rPr>
              <a:t>Browser speech synthesis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87CC7A-D9BF-4E18-9C31-69F182BE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1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20D"/>
                </a:solidFill>
              </a:defRPr>
            </a:pPr>
            <a:r>
              <a:rPr sz="1500" b="1">
                <a:solidFill>
                  <a:srgbClr val="17120D"/>
                </a:solidFill>
              </a:rPr>
              <a:t>Gemini image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123557-7DF5-413B-A2AB-BDEAC9D9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14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140C"/>
                </a:solidFill>
              </a:defRPr>
            </a:pPr>
            <a:r>
              <a:rPr sz="1350" b="1">
                <a:solidFill>
                  <a:srgbClr val="40140C"/>
                </a:solidFill>
              </a:rPr>
              <a:t>Forehead evidence edit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0ED806-A1F7-44AF-992A-EE4631B3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14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140C"/>
                </a:solidFill>
              </a:defRPr>
            </a:pPr>
            <a:r>
              <a:rPr sz="1350" b="1">
                <a:solidFill>
                  <a:srgbClr val="40140C"/>
                </a:solidFill>
              </a:rPr>
              <a:t>Original uploaded image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A4497A-41C3-4B42-A1F3-E7DF4D62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1017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B8B8CC-3D06-424F-8408-3C25E793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10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20D"/>
                </a:solidFill>
              </a:defRPr>
            </a:pPr>
            <a:r>
              <a:rPr sz="1500" b="1">
                <a:solidFill>
                  <a:srgbClr val="17120D"/>
                </a:solidFill>
              </a:rPr>
              <a:t>Pika video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9F0969-B576-4C9C-8448-946C0C55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10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140C"/>
                </a:solidFill>
              </a:defRPr>
            </a:pPr>
            <a:r>
              <a:rPr sz="1350" b="1">
                <a:solidFill>
                  <a:srgbClr val="40140C"/>
                </a:solidFill>
              </a:rPr>
              <a:t>Mood loops when key is available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3E8375-8F73-4F95-978C-4F2AAC0D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101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140C"/>
                </a:solidFill>
              </a:defRPr>
            </a:pPr>
            <a:r>
              <a:rPr sz="1350" b="1">
                <a:solidFill>
                  <a:srgbClr val="40140C"/>
                </a:solidFill>
              </a:rPr>
              <a:t>CSS yapping avatar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E047EB-1271-468C-8420-B18AAF49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24525"/>
            <a:ext cx="4400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42B059-7C86-4170-B768-7016AECE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76900"/>
            <a:ext cx="4400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1F26"/>
          </a:solidFill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124AD6-6B14-4FA3-A88D-E806C725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753100"/>
            <a:ext cx="413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8E7"/>
                </a:solidFill>
              </a:defRPr>
            </a:pPr>
            <a:r>
              <a:rPr sz="1275" b="1">
                <a:solidFill>
                  <a:srgbClr val="FFF8E7"/>
                </a:solidFill>
              </a:rPr>
              <a:t>TODAY: GEMINI + DEEPGRAM ON, PIKA OFF</a:t>
            </a:r>
          </a:p>
        </p:txBody>
      </p:sp>
    </p:spTree>
    <p:extLst>
      <p:ext uri="{BB962C8B-B14F-4D97-AF65-F5344CB8AC3E}">
        <p14:creationId xmlns:p14="http://schemas.microsoft.com/office/powerpoint/2010/main" val="12722273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32EC6E-6103-499E-8C3F-7BCB3A77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28600"/>
            <a:ext cx="116967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19EF2-095A-4721-80E1-01999A2C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4767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290C1-65F1-4684-A2BC-094052E0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00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38"/>
          </a:solidFill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4D546-BDF6-4FDA-9ABB-2D1F8928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62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20D"/>
                </a:solidFill>
              </a:defRPr>
            </a:pPr>
            <a:r>
              <a:rPr sz="1275" b="1">
                <a:solidFill>
                  <a:srgbClr val="17120D"/>
                </a:solidFill>
              </a:rPr>
              <a:t>FIZZBUZZ / HACKATHON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A0D77-7A46-484E-9E27-8FFE8A70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847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120D"/>
                </a:solidFill>
              </a:defRPr>
            </a:pPr>
            <a:r>
              <a:rPr sz="3750" b="1">
                <a:solidFill>
                  <a:srgbClr val="17120D"/>
                </a:solidFill>
              </a:rPr>
              <a:t>60-Second Judge Script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E8CF0-6BE7-4670-AB5E-0AFB865A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0140C"/>
                </a:solidFill>
              </a:defRPr>
            </a:pPr>
            <a:r>
              <a:rPr sz="1800" b="1">
                <a:solidFill>
                  <a:srgbClr val="40140C"/>
                </a:solidFill>
              </a:rPr>
              <a:t>Use this while the app is open beside the deck.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4E3C2-240A-4086-87BD-3696B119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38"/>
          </a:solidFill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ED68D-3A06-4BF4-8048-F69DCE69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24050"/>
            <a:ext cx="946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20D"/>
                </a:solidFill>
              </a:defRPr>
            </a:pPr>
            <a:r>
              <a:rPr sz="1425" b="1">
                <a:solidFill>
                  <a:srgbClr val="17120D"/>
                </a:solidFill>
              </a:rPr>
              <a:t>1. We built a funny AI practice arena for one of the most common low-stakes high-friction conflicts: roommates.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2EBC0-43CB-4CA0-9869-A04E77A5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BD"/>
          </a:solidFill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C173B-CF6C-4175-A3A1-8A1E3EEF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28900"/>
            <a:ext cx="946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20D"/>
                </a:solidFill>
              </a:defRPr>
            </a:pPr>
            <a:r>
              <a:rPr sz="1425" b="1">
                <a:solidFill>
                  <a:srgbClr val="17120D"/>
                </a:solidFill>
              </a:rPr>
              <a:t>2. I enter the exploded Coke incident, set evidence and aggro, and knock on the roommate door.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54B332-6AE5-41A1-B1F9-192D0A9B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38"/>
          </a:solidFill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C776A-40F1-4318-9BCC-FE7BC08C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33750"/>
            <a:ext cx="946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20D"/>
                </a:solidFill>
              </a:defRPr>
            </a:pPr>
            <a:r>
              <a:rPr sz="1425" b="1">
                <a:solidFill>
                  <a:srgbClr val="17120D"/>
                </a:solidFill>
              </a:rPr>
              <a:t>3. Deepgram listens to my spoken boundary; Gemini makes the roommate dodge responsibility in context.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850272-999A-433E-B184-981A6DDC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BD"/>
          </a:solidFill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0048C-017B-4AEA-95E5-308610C3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8600"/>
            <a:ext cx="946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20D"/>
                </a:solidFill>
              </a:defRPr>
            </a:pPr>
            <a:r>
              <a:rPr sz="1425" b="1">
                <a:solidFill>
                  <a:srgbClr val="17120D"/>
                </a:solidFill>
              </a:rPr>
              <a:t>4. Aura TTS voices the roommate back, the boss HP moves, and the fight card summarizes my best line.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9AD98-921A-400D-AC15-5B26AC6E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38"/>
          </a:solidFill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02E60C-0287-4FAE-A583-4724F37F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43450"/>
            <a:ext cx="946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20D"/>
                </a:solidFill>
              </a:defRPr>
            </a:pPr>
            <a:r>
              <a:rPr sz="1425" b="1">
                <a:solidFill>
                  <a:srgbClr val="17120D"/>
                </a:solidFill>
              </a:rPr>
              <a:t>5. The important part: it stays demoable with graceful fallbacks when an API is missing or slow.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7F8F2B-C0B0-40BB-B581-B0932BB7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838825"/>
            <a:ext cx="704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D"/>
          </a:solidFill>
          <a:ln xmlns:a="http://schemas.openxmlformats.org/drawingml/2006/main" w="0">
            <a:solidFill>
              <a:srgbClr val="17120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764CF8-B7B7-4890-AD0B-0EA9AACD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91200"/>
            <a:ext cx="704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35B7"/>
          </a:solidFill>
          <a:ln xmlns:a="http://schemas.openxmlformats.org/drawingml/2006/main" w="38100">
            <a:solidFill>
              <a:srgbClr val="17120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34CF5D-536D-4646-A2CD-E96D08EE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867400"/>
            <a:ext cx="678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8E7"/>
                </a:solidFill>
              </a:defRPr>
            </a:pPr>
            <a:r>
              <a:rPr sz="1275" b="1">
                <a:solidFill>
                  <a:srgbClr val="FFF8E7"/>
                </a:solidFill>
              </a:rPr>
              <a:t>CLOSE: PRACTICE REAL WORDS BEFORE REAL CONFLICT</a:t>
            </a:r>
          </a:p>
        </p:txBody>
      </p:sp>
    </p:spTree>
    <p:extLst>
      <p:ext uri="{BB962C8B-B14F-4D97-AF65-F5344CB8AC3E}">
        <p14:creationId xmlns:p14="http://schemas.microsoft.com/office/powerpoint/2010/main" val="9443202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2026-06-21T20:17:28.7300000Z</dcterms:created>
  <dcterms:modified xsi:type="dcterms:W3CDTF">2026-06-21T20:17:28.7300000Z</dcterms:modified>
</coreProperties>
</file>